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1FBB-4A77-D1D5-DF6D-B5BAACAC2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6E554-C756-2534-0F83-3787A1350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F6866-8496-A4F5-6D3F-5BFED55D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9B17-5376-1BEC-5FA5-F513A3CC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90149-B4D2-03D1-C90A-C300C899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22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6FC5-4162-E00D-350A-AA94F143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8E53F-7D55-9C39-E7F8-4C0FBF072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909F2-E37F-ACA6-BF60-9608F345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6B32-E402-462D-8768-DC971C4C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AEBF-1D9A-4EF7-F717-5D8C6957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11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B814-A4F5-6514-E50A-9D55E6F0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C2337-9DD6-FB9C-077A-3FD2BE0B2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86837-A1B7-B610-92F5-1CD553EA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01A4-8D60-5E8B-E54A-04112637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91B3-2CAF-D078-732C-AF73CAC2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7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B4E1-2315-AE34-4D5A-B54BD7E91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F06C-5A13-A7D0-C23C-0991B85BC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AABDC-3CAD-0577-C0A4-F1F6D6533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2047A-7E9C-CEAC-E976-8510A112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63C0E-9ED4-D698-33DA-A767EA6E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DD274-6D2A-4DE6-41B9-E51EEBB5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84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320F-D6B4-90E6-057A-BFE9B465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BC8B3-4314-DAF1-2DC0-EDA11ABBF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F31EF-51B9-E338-30CA-DB56E5106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E54C2-82B2-8F52-3040-39E616FE0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216C8-D002-D684-82EF-D5B62E4618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8AC673-7B08-237D-1F0F-442F6CA2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071BF-5981-478D-7CBF-CF2E621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8A4F2-3EF3-AABD-232F-8E0A5430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9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0404-52EF-30F4-A6BC-35B7A2C3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752BD-5970-8838-0F98-54280D9F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F69FD-5009-C6C8-C096-1BDC2165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0EEB9-2394-817C-9731-E269FD21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93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1E2EC-AD39-2547-D300-95C014E1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C1197-9FDD-03F0-2858-433FE3F8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D02C4-4408-82FF-E01E-1036D451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63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60BC-2287-2CE6-1778-92EB3A19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CA72-7B31-1218-A157-342ABA00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73E8B-96F0-790E-01CA-75BBC22D9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FD5E1-28F7-BAE7-826B-3DFD949D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A3357-62B5-DB34-805D-3C3A4C73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FAD4-DF46-7D91-BA8E-43D37BA9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4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DFC9-B13E-EBA2-C36A-882B8789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6ED63-D325-B7C2-CBE2-6EC4B1134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48937-DE46-5DBD-5379-3284A9B86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EC9A7-E471-598C-DF49-5E5D902C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8A116-6598-D88D-FF41-D1F9D628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968E9-5C4A-6B3E-1D64-5EBB8B4D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89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77D7-7BC9-C444-22F9-803D9568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1828D-E057-40FE-E8BD-79E05080C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F2BF4-7109-BB32-9995-C40EDF80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3FC7-AE41-36CC-54ED-F5771697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421F-3E62-6175-068B-FF2D3978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30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EDD9CF-7EB7-3003-E983-6B8C45CA7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0C5F5-1B97-19CB-A10B-BFBA8A04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769AB-EF6F-4E52-FB91-667694AD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BDF3-AFB6-E01D-3E88-8E21814B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009ED-4515-8340-2246-FE7C650C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31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994CC-E8A0-B55F-300C-CC0431BC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70351-7AE9-6288-731E-CA05A904C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78DBB-C630-0D7A-2F43-0C72D45A7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BAB90-0A61-4207-9757-68E12186F638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93F83-D44F-B02B-CDA8-98B86A820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2796B-9A9E-16CD-B4A8-86240A69B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B5FA0-0CF1-4974-B2AC-7F9D6A79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0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B6C2-68CE-EDBA-9980-4B3B76E8F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485" y="1422179"/>
            <a:ext cx="11189677" cy="1015586"/>
          </a:xfrm>
        </p:spPr>
        <p:txBody>
          <a:bodyPr>
            <a:normAutofit fontScale="90000"/>
          </a:bodyPr>
          <a:lstStyle/>
          <a:p>
            <a:r>
              <a:rPr lang="en-IN" dirty="0"/>
              <a:t>Mutual Fund Analytics Capstone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196D-9F78-4250-BB08-64B3F5968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943" y="2828706"/>
            <a:ext cx="9254113" cy="495232"/>
          </a:xfrm>
        </p:spPr>
        <p:txBody>
          <a:bodyPr>
            <a:normAutofit fontScale="92500"/>
          </a:bodyPr>
          <a:lstStyle/>
          <a:p>
            <a:r>
              <a:rPr lang="en-US" dirty="0"/>
              <a:t>Data Engineering, Performance Analytics &amp; Business Intelligence Dashboard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9A468-CC71-554C-FE94-83D22C319784}"/>
              </a:ext>
            </a:extLst>
          </p:cNvPr>
          <p:cNvSpPr txBox="1"/>
          <p:nvPr/>
        </p:nvSpPr>
        <p:spPr>
          <a:xfrm>
            <a:off x="741485" y="5950553"/>
            <a:ext cx="27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Prepared By:</a:t>
            </a:r>
            <a:r>
              <a:rPr lang="en-IN" dirty="0"/>
              <a:t> Sakshi Kumari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E7CEF-DA46-9F37-10F1-FD2EEFEE844C}"/>
              </a:ext>
            </a:extLst>
          </p:cNvPr>
          <p:cNvSpPr txBox="1"/>
          <p:nvPr/>
        </p:nvSpPr>
        <p:spPr>
          <a:xfrm>
            <a:off x="850465" y="3428583"/>
            <a:ext cx="6760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Tools Used:</a:t>
            </a:r>
            <a:br>
              <a:rPr lang="en-IN" dirty="0"/>
            </a:br>
            <a:r>
              <a:rPr lang="en-IN" dirty="0"/>
              <a:t>Python | Pandas | SQL | SQLite | Power BI | Plotly | Seaborn | GitHub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1C827-3429-050D-5AE8-E885AED523F0}"/>
              </a:ext>
            </a:extLst>
          </p:cNvPr>
          <p:cNvSpPr txBox="1"/>
          <p:nvPr/>
        </p:nvSpPr>
        <p:spPr>
          <a:xfrm>
            <a:off x="741485" y="6342493"/>
            <a:ext cx="329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Duration:</a:t>
            </a:r>
            <a:r>
              <a:rPr lang="en-IN" dirty="0"/>
              <a:t> 6-Day Analytics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59AED-95EA-700B-C9A0-F0DF4BFEF0B7}"/>
              </a:ext>
            </a:extLst>
          </p:cNvPr>
          <p:cNvSpPr txBox="1"/>
          <p:nvPr/>
        </p:nvSpPr>
        <p:spPr>
          <a:xfrm>
            <a:off x="850465" y="2827354"/>
            <a:ext cx="991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Subtitle: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71772F-A642-F32B-FE58-5CD89E125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6" y="0"/>
            <a:ext cx="1711971" cy="171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3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56E3-7053-0285-ED18-2088828E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08" y="110149"/>
            <a:ext cx="7637585" cy="645990"/>
          </a:xfrm>
        </p:spPr>
        <p:txBody>
          <a:bodyPr>
            <a:normAutofit/>
          </a:bodyPr>
          <a:lstStyle/>
          <a:p>
            <a:r>
              <a:rPr lang="en-IN" sz="3600" b="1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E218-6D70-1BF3-081C-5C06CB321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92" y="694592"/>
            <a:ext cx="10659208" cy="5855677"/>
          </a:xfrm>
        </p:spPr>
        <p:txBody>
          <a:bodyPr>
            <a:normAutofit/>
          </a:bodyPr>
          <a:lstStyle/>
          <a:p>
            <a:r>
              <a:rPr lang="en-US" sz="2600" b="1" dirty="0"/>
              <a:t>Problem Statement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India's mutual fund industry has witnessed rapid growth in AUM, SIP inflows, and investor participation. However, investors and financial advisors often struggle to: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Compare fund performance effectively</a:t>
            </a:r>
            <a:r>
              <a:rPr lang="en-US" dirty="0"/>
              <a:t>. 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Understand risk-adjusted returns.</a:t>
            </a:r>
            <a:endParaRPr lang="en-US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Track investor behavior and SIP trends.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Identify high-performing funds based on multiple factors.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600" dirty="0"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Generate actionable insights from large volumes of mutual fund data.</a:t>
            </a:r>
          </a:p>
          <a:p>
            <a:r>
              <a:rPr lang="en-IN" sz="2600" b="1" dirty="0"/>
              <a:t>Objectives</a:t>
            </a:r>
          </a:p>
          <a:p>
            <a:r>
              <a:rPr lang="en-IN" sz="1600" dirty="0"/>
              <a:t>Build an end-to-end mutual fund analytics platform. </a:t>
            </a:r>
          </a:p>
          <a:p>
            <a:r>
              <a:rPr lang="en-IN" sz="1600" dirty="0"/>
              <a:t>Create a centralized analytical database. </a:t>
            </a:r>
          </a:p>
          <a:p>
            <a:r>
              <a:rPr lang="en-IN" sz="1600" dirty="0" err="1"/>
              <a:t>Analyze</a:t>
            </a:r>
            <a:r>
              <a:rPr lang="en-IN" sz="1600" dirty="0"/>
              <a:t> performance and risk metrics across funds. </a:t>
            </a:r>
          </a:p>
          <a:p>
            <a:r>
              <a:rPr lang="en-IN" sz="1600" dirty="0"/>
              <a:t>Develop interactive Power BI dashboards. </a:t>
            </a:r>
          </a:p>
          <a:p>
            <a:r>
              <a:rPr lang="en-IN" sz="1600" dirty="0"/>
              <a:t>Generate investor and market insights for decision-making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76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B8D7-437F-F004-FE2D-7891397F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92" y="74980"/>
            <a:ext cx="3487615" cy="606058"/>
          </a:xfrm>
        </p:spPr>
        <p:txBody>
          <a:bodyPr>
            <a:normAutofit/>
          </a:bodyPr>
          <a:lstStyle/>
          <a:p>
            <a:r>
              <a:rPr lang="en-IN" sz="3600" b="1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E1C2-A043-8822-FDB5-9A4CAF0FA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92" y="681038"/>
            <a:ext cx="10849708" cy="59044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6500" b="1" dirty="0"/>
              <a:t>Data Sources Used</a:t>
            </a:r>
          </a:p>
          <a:p>
            <a:r>
              <a:rPr lang="en-IN" sz="4500" b="1" dirty="0"/>
              <a:t>Internal Datasets</a:t>
            </a:r>
          </a:p>
          <a:p>
            <a:r>
              <a:rPr lang="en-IN" sz="3400" dirty="0"/>
              <a:t>Fund Master </a:t>
            </a:r>
          </a:p>
          <a:p>
            <a:r>
              <a:rPr lang="en-IN" sz="3400" dirty="0"/>
              <a:t>NAV History </a:t>
            </a:r>
          </a:p>
          <a:p>
            <a:r>
              <a:rPr lang="en-IN" sz="3400" dirty="0"/>
              <a:t>Investor Transactions </a:t>
            </a:r>
          </a:p>
          <a:p>
            <a:r>
              <a:rPr lang="en-IN" sz="3400" dirty="0"/>
              <a:t>Scheme Performance </a:t>
            </a:r>
          </a:p>
          <a:p>
            <a:r>
              <a:rPr lang="en-IN" sz="3400" dirty="0"/>
              <a:t>AUM Data </a:t>
            </a:r>
          </a:p>
          <a:p>
            <a:r>
              <a:rPr lang="en-IN" sz="3400" dirty="0"/>
              <a:t>Portfolio Holdings </a:t>
            </a:r>
          </a:p>
          <a:p>
            <a:r>
              <a:rPr lang="en-IN" sz="3400" dirty="0"/>
              <a:t>Investor Demographics </a:t>
            </a:r>
          </a:p>
          <a:p>
            <a:r>
              <a:rPr lang="en-IN" sz="3400" dirty="0"/>
              <a:t>Geographic Data </a:t>
            </a:r>
          </a:p>
          <a:p>
            <a:r>
              <a:rPr lang="en-IN" sz="4500" b="1" dirty="0"/>
              <a:t>External Data Sources</a:t>
            </a:r>
          </a:p>
          <a:p>
            <a:r>
              <a:rPr lang="en-IN" sz="3400" dirty="0"/>
              <a:t>MFAPI Live NAV API </a:t>
            </a:r>
          </a:p>
          <a:p>
            <a:r>
              <a:rPr lang="en-IN" sz="3400" dirty="0"/>
              <a:t>Nifty 50 Benchmark </a:t>
            </a:r>
          </a:p>
          <a:p>
            <a:r>
              <a:rPr lang="en-IN" sz="3400" dirty="0"/>
              <a:t>Nifty 100 Benchmark </a:t>
            </a:r>
          </a:p>
          <a:p>
            <a:r>
              <a:rPr lang="en-IN" sz="4500" b="1" dirty="0"/>
              <a:t>Project Scale</a:t>
            </a:r>
          </a:p>
          <a:p>
            <a:r>
              <a:rPr lang="en-IN" sz="3500" dirty="0"/>
              <a:t>40 Mutual Fund Schemes </a:t>
            </a:r>
          </a:p>
          <a:p>
            <a:r>
              <a:rPr lang="en-IN" sz="3500" dirty="0"/>
              <a:t>1908+ Schemes Metadata </a:t>
            </a:r>
          </a:p>
          <a:p>
            <a:r>
              <a:rPr lang="en-IN" sz="3500" dirty="0"/>
              <a:t>4 Years Historical Data </a:t>
            </a:r>
          </a:p>
          <a:p>
            <a:r>
              <a:rPr lang="en-IN" sz="3500" dirty="0"/>
              <a:t>26+ Crore Folios </a:t>
            </a:r>
          </a:p>
          <a:p>
            <a:r>
              <a:rPr lang="en-IN" sz="3500" dirty="0"/>
              <a:t>₹81+ Lakh Crore Industry AUM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45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12E1-2B11-F61E-ABA9-1C53FD24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3" y="70216"/>
            <a:ext cx="3918438" cy="610821"/>
          </a:xfrm>
        </p:spPr>
        <p:txBody>
          <a:bodyPr>
            <a:normAutofit/>
          </a:bodyPr>
          <a:lstStyle/>
          <a:p>
            <a:r>
              <a:rPr lang="en-IN" sz="3600" b="1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CCB14-24D4-FE0C-50B9-228601304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681037"/>
            <a:ext cx="11019692" cy="604507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End-to-End Analytics Pipeline</a:t>
            </a:r>
          </a:p>
          <a:p>
            <a:r>
              <a:rPr lang="en-IN" sz="1500" dirty="0"/>
              <a:t>Raw CSV Files + MFAPI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Data Ingestion (Python)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Data Cleaning &amp; Validation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SQLite Star Schema Database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EDA &amp; Visualization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Performance Analytics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Risk Analytics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Power BI Dashboard</a:t>
            </a:r>
            <a:br>
              <a:rPr lang="en-IN" sz="1500" dirty="0"/>
            </a:br>
            <a:r>
              <a:rPr lang="en-IN" sz="1500" dirty="0"/>
              <a:t>↓</a:t>
            </a:r>
            <a:br>
              <a:rPr lang="en-IN" sz="1500" dirty="0"/>
            </a:br>
            <a:r>
              <a:rPr lang="en-IN" sz="1500" dirty="0"/>
              <a:t>Business Insights &amp; Recommendations</a:t>
            </a:r>
          </a:p>
          <a:p>
            <a:r>
              <a:rPr lang="en-US" b="1" dirty="0"/>
              <a:t>Star Schema Design</a:t>
            </a:r>
          </a:p>
          <a:p>
            <a:r>
              <a:rPr lang="en-US" sz="1900" b="1" dirty="0"/>
              <a:t>Dimension Tables</a:t>
            </a:r>
            <a:endParaRPr lang="en-US" sz="1900" dirty="0"/>
          </a:p>
          <a:p>
            <a:r>
              <a:rPr lang="en-US" sz="1500" dirty="0"/>
              <a:t>dim_fund </a:t>
            </a:r>
          </a:p>
          <a:p>
            <a:r>
              <a:rPr lang="en-US" sz="1500" dirty="0"/>
              <a:t>dim_date </a:t>
            </a:r>
          </a:p>
          <a:p>
            <a:r>
              <a:rPr lang="en-US" sz="1900" b="1" dirty="0"/>
              <a:t>Fact Tables</a:t>
            </a:r>
            <a:endParaRPr lang="en-US" sz="1900" dirty="0"/>
          </a:p>
          <a:p>
            <a:r>
              <a:rPr lang="en-US" sz="1500" dirty="0"/>
              <a:t>fact_nav </a:t>
            </a:r>
          </a:p>
          <a:p>
            <a:r>
              <a:rPr lang="en-US" sz="1500" dirty="0"/>
              <a:t>fact_transactions </a:t>
            </a:r>
          </a:p>
          <a:p>
            <a:r>
              <a:rPr lang="en-US" sz="1500" dirty="0"/>
              <a:t>fact_performance </a:t>
            </a:r>
          </a:p>
          <a:p>
            <a:r>
              <a:rPr lang="en-US" sz="1500" dirty="0"/>
              <a:t>fact_aum</a:t>
            </a: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93299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E4C2-83DE-EC31-E874-A1EA8290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66187"/>
            <a:ext cx="5958254" cy="540483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AD9A5-F734-AE11-9235-C3A3C6929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1" y="756139"/>
            <a:ext cx="10975731" cy="5706208"/>
          </a:xfrm>
        </p:spPr>
        <p:txBody>
          <a:bodyPr>
            <a:normAutofit/>
          </a:bodyPr>
          <a:lstStyle/>
          <a:p>
            <a:r>
              <a:rPr lang="en-US" sz="2600" b="1" dirty="0"/>
              <a:t>Market &amp; Industry Analysis</a:t>
            </a:r>
          </a:p>
          <a:p>
            <a:r>
              <a:rPr lang="en-US" sz="1900" b="1" dirty="0"/>
              <a:t>Key Analyses Performed</a:t>
            </a:r>
          </a:p>
          <a:p>
            <a:r>
              <a:rPr lang="en-US" sz="1400" dirty="0"/>
              <a:t>NAV trend analysis for 40 schemes. </a:t>
            </a:r>
          </a:p>
          <a:p>
            <a:r>
              <a:rPr lang="en-US" sz="1400" dirty="0"/>
              <a:t>AUM growth analysis by AMC. </a:t>
            </a:r>
          </a:p>
          <a:p>
            <a:r>
              <a:rPr lang="en-US" sz="1400" dirty="0"/>
              <a:t>Monthly SIP inflow trend. </a:t>
            </a:r>
          </a:p>
          <a:p>
            <a:r>
              <a:rPr lang="en-US" sz="1400" dirty="0"/>
              <a:t>Category-wise inflow heatmap. </a:t>
            </a:r>
          </a:p>
          <a:p>
            <a:r>
              <a:rPr lang="en-US" sz="1400" dirty="0"/>
              <a:t>Folio growth analysis. </a:t>
            </a:r>
          </a:p>
          <a:p>
            <a:r>
              <a:rPr lang="en-US" sz="1400" dirty="0"/>
              <a:t>Sector allocation analysis. </a:t>
            </a:r>
          </a:p>
          <a:p>
            <a:r>
              <a:rPr lang="en-US" sz="1800" b="1" dirty="0"/>
              <a:t>Key Observations</a:t>
            </a:r>
          </a:p>
          <a:p>
            <a:r>
              <a:rPr lang="en-US" sz="1400" dirty="0"/>
              <a:t>Strong market rally observed during 2023. </a:t>
            </a:r>
          </a:p>
          <a:p>
            <a:r>
              <a:rPr lang="en-US" sz="1400" dirty="0"/>
              <a:t>Temporary correction phase during 2024. </a:t>
            </a:r>
          </a:p>
          <a:p>
            <a:r>
              <a:rPr lang="en-US" sz="1400" dirty="0"/>
              <a:t>Continuous rise in SIP participation. </a:t>
            </a:r>
          </a:p>
          <a:p>
            <a:r>
              <a:rPr lang="en-US" sz="1400" dirty="0"/>
              <a:t>Equity-oriented funds attracted the highest inflows.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FA1B5-4757-20D0-3443-A9902A423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16" y="1122509"/>
            <a:ext cx="7268178" cy="40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5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DCE8-221B-7E4E-B1AC-43B23327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55" y="92564"/>
            <a:ext cx="5975838" cy="526927"/>
          </a:xfrm>
        </p:spPr>
        <p:txBody>
          <a:bodyPr>
            <a:noAutofit/>
          </a:bodyPr>
          <a:lstStyle/>
          <a:p>
            <a:r>
              <a:rPr lang="en-IN" sz="3600" b="1" dirty="0"/>
              <a:t>Investor &amp; Portfolio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A4852-9C95-02DE-9520-C12839533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8" y="747346"/>
            <a:ext cx="11010900" cy="5829300"/>
          </a:xfrm>
        </p:spPr>
        <p:txBody>
          <a:bodyPr>
            <a:normAutofit/>
          </a:bodyPr>
          <a:lstStyle/>
          <a:p>
            <a:r>
              <a:rPr lang="en-IN" sz="2600" b="1" dirty="0"/>
              <a:t>Investor</a:t>
            </a:r>
            <a:r>
              <a:rPr lang="en-IN" b="1" dirty="0"/>
              <a:t> Analytics</a:t>
            </a:r>
          </a:p>
          <a:p>
            <a:r>
              <a:rPr lang="en-IN" sz="1800" b="1" dirty="0"/>
              <a:t>Demographic Analysis</a:t>
            </a:r>
          </a:p>
          <a:p>
            <a:r>
              <a:rPr lang="en-IN" sz="1400" dirty="0"/>
              <a:t>Age Group Distribution </a:t>
            </a:r>
          </a:p>
          <a:p>
            <a:r>
              <a:rPr lang="en-IN" sz="1400" dirty="0"/>
              <a:t>Gender Split </a:t>
            </a:r>
          </a:p>
          <a:p>
            <a:r>
              <a:rPr lang="en-IN" sz="1400" dirty="0"/>
              <a:t>Average SIP by Age Group </a:t>
            </a:r>
          </a:p>
          <a:p>
            <a:r>
              <a:rPr lang="en-IN" sz="1800" b="1" dirty="0"/>
              <a:t>Geographic Analysis</a:t>
            </a:r>
          </a:p>
          <a:p>
            <a:r>
              <a:rPr lang="en-IN" sz="1400" dirty="0"/>
              <a:t>State-wise SIP Contribution </a:t>
            </a:r>
          </a:p>
          <a:p>
            <a:r>
              <a:rPr lang="en-IN" sz="1400" dirty="0"/>
              <a:t>T30 vs B30 Participation </a:t>
            </a:r>
          </a:p>
          <a:p>
            <a:r>
              <a:rPr lang="en-IN" sz="1800" b="1" dirty="0"/>
              <a:t>Portfolio Analysis</a:t>
            </a:r>
          </a:p>
          <a:p>
            <a:r>
              <a:rPr lang="en-IN" sz="1400" dirty="0"/>
              <a:t>Correlation Matrix </a:t>
            </a:r>
          </a:p>
          <a:p>
            <a:r>
              <a:rPr lang="en-IN" sz="1400" dirty="0"/>
              <a:t>Sector Allocation Donut </a:t>
            </a:r>
          </a:p>
          <a:p>
            <a:r>
              <a:rPr lang="en-IN" sz="1400" dirty="0"/>
              <a:t>Fund Diversification Study </a:t>
            </a:r>
          </a:p>
          <a:p>
            <a:r>
              <a:rPr lang="en-IN" sz="1800" b="1" dirty="0"/>
              <a:t>Key Findings</a:t>
            </a:r>
          </a:p>
          <a:p>
            <a:r>
              <a:rPr lang="en-IN" sz="1400" dirty="0"/>
              <a:t>Younger investors dominate SIP investments. </a:t>
            </a:r>
          </a:p>
          <a:p>
            <a:r>
              <a:rPr lang="en-IN" sz="1400" dirty="0"/>
              <a:t>B30 cities are rapidly contributing to mutual fund growth. </a:t>
            </a:r>
          </a:p>
          <a:p>
            <a:r>
              <a:rPr lang="en-IN" sz="1400" dirty="0"/>
              <a:t>Strong positive correlation exists among large-cap funds.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77B49-4973-9FCA-4199-FF74D14DD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369" y="993530"/>
            <a:ext cx="8162864" cy="464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7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3991-80A9-BB6C-1554-339494FFE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87800"/>
            <a:ext cx="5773615" cy="593237"/>
          </a:xfrm>
        </p:spPr>
        <p:txBody>
          <a:bodyPr>
            <a:normAutofit/>
          </a:bodyPr>
          <a:lstStyle/>
          <a:p>
            <a:r>
              <a:rPr lang="en-IN" sz="3600" b="1" dirty="0"/>
              <a:t>Performance Metrics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D979-D2BD-49FA-F468-E1685DCDF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681037"/>
            <a:ext cx="11687908" cy="6089163"/>
          </a:xfrm>
        </p:spPr>
        <p:txBody>
          <a:bodyPr>
            <a:normAutofit/>
          </a:bodyPr>
          <a:lstStyle/>
          <a:p>
            <a:r>
              <a:rPr lang="en-US" sz="2600" b="1" dirty="0"/>
              <a:t>Fund Performance Evaluation</a:t>
            </a:r>
          </a:p>
          <a:p>
            <a:r>
              <a:rPr lang="en-US" sz="1800" b="1" dirty="0"/>
              <a:t>Metrics Calculated</a:t>
            </a:r>
          </a:p>
          <a:p>
            <a:r>
              <a:rPr lang="en-US" sz="1800" b="1" dirty="0"/>
              <a:t>CAGR</a:t>
            </a:r>
          </a:p>
          <a:p>
            <a:r>
              <a:rPr lang="en-US" sz="1400" dirty="0"/>
              <a:t>1 Year CAGR </a:t>
            </a:r>
          </a:p>
          <a:p>
            <a:r>
              <a:rPr lang="en-US" sz="1400" dirty="0"/>
              <a:t>3 Year CAGR </a:t>
            </a:r>
          </a:p>
          <a:p>
            <a:r>
              <a:rPr lang="en-US" sz="1400" dirty="0"/>
              <a:t>5 Year CAGR </a:t>
            </a:r>
          </a:p>
          <a:p>
            <a:r>
              <a:rPr lang="en-US" sz="1800" b="1" dirty="0"/>
              <a:t>Sharpe Ratio</a:t>
            </a:r>
          </a:p>
          <a:p>
            <a:r>
              <a:rPr lang="en-US" sz="1400" dirty="0"/>
              <a:t>Measures return generated per unit of risk.</a:t>
            </a:r>
          </a:p>
          <a:p>
            <a:r>
              <a:rPr lang="en-US" sz="1800" b="1" dirty="0"/>
              <a:t>Sortino Ratio</a:t>
            </a:r>
          </a:p>
          <a:p>
            <a:r>
              <a:rPr lang="en-US" sz="1400" dirty="0"/>
              <a:t>Measures return generated per unit of downside risk</a:t>
            </a:r>
            <a:r>
              <a:rPr lang="en-US" dirty="0"/>
              <a:t>.</a:t>
            </a:r>
          </a:p>
          <a:p>
            <a:r>
              <a:rPr lang="en-US" sz="1800" b="1" dirty="0"/>
              <a:t>Outcome</a:t>
            </a:r>
          </a:p>
          <a:p>
            <a:r>
              <a:rPr lang="en-US" sz="1400" dirty="0"/>
              <a:t>Created performance rankings for all 40 schemes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A3615-7761-3FCC-F013-038D70940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159" y="1011115"/>
            <a:ext cx="7644226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7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4472-A068-98AA-76F3-5B34C46C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61" y="118941"/>
            <a:ext cx="4533901" cy="562096"/>
          </a:xfrm>
        </p:spPr>
        <p:txBody>
          <a:bodyPr>
            <a:noAutofit/>
          </a:bodyPr>
          <a:lstStyle/>
          <a:p>
            <a:r>
              <a:rPr lang="en-IN" sz="3600" b="1" dirty="0"/>
              <a:t>Advanced Risk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B768-1FEB-EAB9-BBF5-2058452D2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62" y="615462"/>
            <a:ext cx="11561884" cy="6049107"/>
          </a:xfrm>
        </p:spPr>
        <p:txBody>
          <a:bodyPr>
            <a:normAutofit fontScale="55000" lnSpcReduction="20000"/>
          </a:bodyPr>
          <a:lstStyle/>
          <a:p>
            <a:r>
              <a:rPr lang="en-IN" sz="4700" b="1" dirty="0"/>
              <a:t>Risk &amp; Benchmark Analysis</a:t>
            </a:r>
          </a:p>
          <a:p>
            <a:r>
              <a:rPr lang="en-IN" sz="3300" b="1" dirty="0"/>
              <a:t>Metrics Computed</a:t>
            </a:r>
          </a:p>
          <a:p>
            <a:r>
              <a:rPr lang="en-IN" b="1" dirty="0"/>
              <a:t>Alpha</a:t>
            </a:r>
          </a:p>
          <a:p>
            <a:r>
              <a:rPr lang="en-IN" sz="2500" dirty="0"/>
              <a:t>Measures excess return over benchmark</a:t>
            </a:r>
            <a:r>
              <a:rPr lang="en-IN" dirty="0"/>
              <a:t>.</a:t>
            </a:r>
          </a:p>
          <a:p>
            <a:r>
              <a:rPr lang="en-IN" b="1" dirty="0"/>
              <a:t>Beta</a:t>
            </a:r>
          </a:p>
          <a:p>
            <a:r>
              <a:rPr lang="en-IN" sz="2500" dirty="0"/>
              <a:t>Measures market sensitivity.</a:t>
            </a:r>
          </a:p>
          <a:p>
            <a:r>
              <a:rPr lang="en-IN" b="1" dirty="0"/>
              <a:t>Maximum Drawdown</a:t>
            </a:r>
          </a:p>
          <a:p>
            <a:r>
              <a:rPr lang="en-IN" sz="2500" dirty="0"/>
              <a:t>Measures largest portfolio decline.</a:t>
            </a:r>
          </a:p>
          <a:p>
            <a:r>
              <a:rPr lang="en-IN" b="1" dirty="0"/>
              <a:t>VaR (95%)</a:t>
            </a:r>
          </a:p>
          <a:p>
            <a:r>
              <a:rPr lang="en-IN" sz="2500" dirty="0"/>
              <a:t>Worst expected loss under normal market conditions</a:t>
            </a:r>
            <a:r>
              <a:rPr lang="en-IN" dirty="0"/>
              <a:t>.</a:t>
            </a:r>
          </a:p>
          <a:p>
            <a:r>
              <a:rPr lang="en-IN" b="1" dirty="0"/>
              <a:t>CVaR</a:t>
            </a:r>
          </a:p>
          <a:p>
            <a:r>
              <a:rPr lang="en-IN" sz="2500" dirty="0"/>
              <a:t>Average loss beyond VaR threshold.</a:t>
            </a:r>
          </a:p>
          <a:p>
            <a:r>
              <a:rPr lang="en-IN" b="1" dirty="0"/>
              <a:t>Fund Scorecard</a:t>
            </a:r>
          </a:p>
          <a:p>
            <a:r>
              <a:rPr lang="en-IN" sz="2500" dirty="0"/>
              <a:t>Composite Score (0–100)</a:t>
            </a:r>
          </a:p>
          <a:p>
            <a:r>
              <a:rPr lang="en-IN" sz="2500" dirty="0"/>
              <a:t>Based on:</a:t>
            </a:r>
          </a:p>
          <a:p>
            <a:r>
              <a:rPr lang="en-IN" sz="2500" dirty="0"/>
              <a:t>30% Return Rank </a:t>
            </a:r>
          </a:p>
          <a:p>
            <a:r>
              <a:rPr lang="en-IN" sz="2500" dirty="0"/>
              <a:t>25% Sharpe Rank </a:t>
            </a:r>
          </a:p>
          <a:p>
            <a:r>
              <a:rPr lang="en-IN" sz="2500" dirty="0"/>
              <a:t>20% Alpha Rank </a:t>
            </a:r>
          </a:p>
          <a:p>
            <a:r>
              <a:rPr lang="en-IN" sz="2500" dirty="0"/>
              <a:t>15% Expense Ratio Rank </a:t>
            </a:r>
          </a:p>
          <a:p>
            <a:r>
              <a:rPr lang="en-IN" sz="2500" dirty="0"/>
              <a:t>10% Drawdown Rank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7B63B-85A5-88F4-5132-EF3252911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69" y="1605025"/>
            <a:ext cx="7312269" cy="393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3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757F-91DC-594B-6625-6205A364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31" y="79008"/>
            <a:ext cx="5184531" cy="602029"/>
          </a:xfrm>
        </p:spPr>
        <p:txBody>
          <a:bodyPr>
            <a:normAutofit/>
          </a:bodyPr>
          <a:lstStyle/>
          <a:p>
            <a:r>
              <a:rPr lang="en-IN" sz="3600" b="1" dirty="0"/>
              <a:t>Dashboard Screenshot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3C399-3A34-C86F-A9C4-A81BBCBF7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81036"/>
            <a:ext cx="11728938" cy="5992325"/>
          </a:xfrm>
        </p:spPr>
        <p:txBody>
          <a:bodyPr>
            <a:normAutofit/>
          </a:bodyPr>
          <a:lstStyle/>
          <a:p>
            <a:r>
              <a:rPr lang="en-IN" sz="2600" b="1" dirty="0"/>
              <a:t>Industry Overview Dashboard</a:t>
            </a:r>
          </a:p>
          <a:p>
            <a:r>
              <a:rPr lang="en-IN" sz="1800" b="1" dirty="0"/>
              <a:t>Include:</a:t>
            </a:r>
          </a:p>
          <a:p>
            <a:r>
              <a:rPr lang="en-IN" sz="1400" dirty="0"/>
              <a:t>Total AUM KPI </a:t>
            </a:r>
          </a:p>
          <a:p>
            <a:r>
              <a:rPr lang="en-IN" sz="1400" dirty="0"/>
              <a:t>SIP Inflow KPI </a:t>
            </a:r>
          </a:p>
          <a:p>
            <a:r>
              <a:rPr lang="en-IN" sz="1400" dirty="0"/>
              <a:t>Total Folios KPI </a:t>
            </a:r>
          </a:p>
          <a:p>
            <a:r>
              <a:rPr lang="en-IN" sz="1400" dirty="0"/>
              <a:t>Total Schemes KPI </a:t>
            </a:r>
          </a:p>
          <a:p>
            <a:r>
              <a:rPr lang="en-IN" sz="1400" dirty="0"/>
              <a:t>AUM Trend Line </a:t>
            </a:r>
          </a:p>
          <a:p>
            <a:r>
              <a:rPr lang="en-IN" sz="1400" dirty="0"/>
              <a:t>AUM by AMC Bar Chart </a:t>
            </a:r>
          </a:p>
          <a:p>
            <a:r>
              <a:rPr lang="en-IN" sz="1800" b="1" dirty="0"/>
              <a:t>Insights</a:t>
            </a:r>
          </a:p>
          <a:p>
            <a:r>
              <a:rPr lang="en-IN" sz="1400" dirty="0"/>
              <a:t>Industry AUM crossed ₹81 Lakh Crore. </a:t>
            </a:r>
          </a:p>
          <a:p>
            <a:r>
              <a:rPr lang="en-IN" sz="1400" dirty="0"/>
              <a:t>SIP inflows reached record highs. </a:t>
            </a:r>
          </a:p>
          <a:p>
            <a:r>
              <a:rPr lang="en-IN" sz="1400" dirty="0"/>
              <a:t>Investor participation continued to expand</a:t>
            </a:r>
          </a:p>
          <a:p>
            <a:endParaRPr lang="en-IN" sz="2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367DB-6842-5F74-94A6-E7EA3C81F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54" y="1134208"/>
            <a:ext cx="8264769" cy="47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6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2A60-BC94-0C81-CBA0-18091E5E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35048"/>
            <a:ext cx="4569069" cy="645989"/>
          </a:xfrm>
        </p:spPr>
        <p:txBody>
          <a:bodyPr>
            <a:normAutofit/>
          </a:bodyPr>
          <a:lstStyle/>
          <a:p>
            <a:r>
              <a:rPr lang="en-IN" sz="3600" b="1" dirty="0"/>
              <a:t>Dashboard Screenshot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41B7-92FF-004F-D523-6423892B7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77" y="681036"/>
            <a:ext cx="11676184" cy="5948363"/>
          </a:xfrm>
        </p:spPr>
        <p:txBody>
          <a:bodyPr>
            <a:normAutofit/>
          </a:bodyPr>
          <a:lstStyle/>
          <a:p>
            <a:r>
              <a:rPr lang="en-US" sz="2600" b="1" dirty="0"/>
              <a:t>Fund Performance &amp; Investor Analytics Dashboard</a:t>
            </a:r>
          </a:p>
          <a:p>
            <a:r>
              <a:rPr lang="en-US" sz="1800" b="1" dirty="0"/>
              <a:t>Show:</a:t>
            </a:r>
          </a:p>
          <a:p>
            <a:r>
              <a:rPr lang="en-US" sz="1400" dirty="0"/>
              <a:t>Risk vs Return Scatter Plot </a:t>
            </a:r>
          </a:p>
          <a:p>
            <a:r>
              <a:rPr lang="en-US" sz="1400" dirty="0"/>
              <a:t>Fund Scorecard Table </a:t>
            </a:r>
          </a:p>
          <a:p>
            <a:r>
              <a:rPr lang="en-US" sz="1400" dirty="0"/>
              <a:t>NAV vs Benchmark </a:t>
            </a:r>
          </a:p>
          <a:p>
            <a:r>
              <a:rPr lang="en-US" sz="1400" dirty="0"/>
              <a:t>State-wise Investment Analysis </a:t>
            </a:r>
          </a:p>
          <a:p>
            <a:r>
              <a:rPr lang="en-US" sz="1400" dirty="0"/>
              <a:t>SIP/Lumpsum Split </a:t>
            </a:r>
          </a:p>
          <a:p>
            <a:r>
              <a:rPr lang="en-US" sz="1400" dirty="0"/>
              <a:t>Age Group Analysis </a:t>
            </a:r>
          </a:p>
          <a:p>
            <a:r>
              <a:rPr lang="en-US" sz="1800" b="1" dirty="0"/>
              <a:t>Insights</a:t>
            </a:r>
          </a:p>
          <a:p>
            <a:r>
              <a:rPr lang="en-US" sz="1400" dirty="0"/>
              <a:t>Top-performing funds generated superior risk-adjusted returns. </a:t>
            </a:r>
          </a:p>
          <a:p>
            <a:r>
              <a:rPr lang="en-US" sz="1400" dirty="0"/>
              <a:t>Investor participation varied significantly across regions and age groups.</a:t>
            </a:r>
          </a:p>
          <a:p>
            <a:endParaRPr lang="en-IN" sz="2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5F64C-1F5C-CD15-4F61-85C25055A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246" y="1095887"/>
            <a:ext cx="6529754" cy="2778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57613-0BB6-5FB7-C939-32EBA8DE3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483" y="4018086"/>
            <a:ext cx="6653517" cy="27783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58C4F-0801-588F-0962-DDEB1B17DB9C}"/>
              </a:ext>
            </a:extLst>
          </p:cNvPr>
          <p:cNvSpPr txBox="1"/>
          <p:nvPr/>
        </p:nvSpPr>
        <p:spPr>
          <a:xfrm>
            <a:off x="8546122" y="744166"/>
            <a:ext cx="194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Fund</a:t>
            </a:r>
            <a:r>
              <a:rPr lang="en-US" dirty="0"/>
              <a:t> </a:t>
            </a:r>
            <a:r>
              <a:rPr lang="en-US" b="1" dirty="0"/>
              <a:t>performance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5B7D0-C52E-93FC-62DF-72495187FB1A}"/>
              </a:ext>
            </a:extLst>
          </p:cNvPr>
          <p:cNvSpPr txBox="1"/>
          <p:nvPr/>
        </p:nvSpPr>
        <p:spPr>
          <a:xfrm>
            <a:off x="3701453" y="599229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Investror Analytics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677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2786-5354-77E4-C1E5-9017B9DE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61" y="66187"/>
            <a:ext cx="7927731" cy="614850"/>
          </a:xfrm>
        </p:spPr>
        <p:txBody>
          <a:bodyPr>
            <a:normAutofit/>
          </a:bodyPr>
          <a:lstStyle/>
          <a:p>
            <a:r>
              <a:rPr lang="en-IN" sz="3600" b="1" dirty="0"/>
              <a:t>Key Findings &amp; 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4D3FD-02D8-714D-CD21-C716DBDB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15" y="681036"/>
            <a:ext cx="11670324" cy="5957155"/>
          </a:xfrm>
        </p:spPr>
        <p:txBody>
          <a:bodyPr>
            <a:normAutofit/>
          </a:bodyPr>
          <a:lstStyle/>
          <a:p>
            <a:r>
              <a:rPr lang="en-US" sz="2600" b="1" dirty="0"/>
              <a:t>Major Findings</a:t>
            </a:r>
          </a:p>
          <a:p>
            <a:r>
              <a:rPr lang="en-US" sz="1800" b="1" dirty="0"/>
              <a:t>Market Insights</a:t>
            </a:r>
          </a:p>
          <a:p>
            <a:r>
              <a:rPr lang="en-US" sz="1400" dirty="0"/>
              <a:t>SIP inflows reached ₹31,002 Cr in Dec 2025. </a:t>
            </a:r>
          </a:p>
          <a:p>
            <a:r>
              <a:rPr lang="en-US" sz="1400" dirty="0"/>
              <a:t>Folio count increased from 13.26 Cr to 26.12 Cr. </a:t>
            </a:r>
          </a:p>
          <a:p>
            <a:r>
              <a:rPr lang="en-US" sz="1400" dirty="0"/>
              <a:t>SBI Mutual Fund maintained market leadership. </a:t>
            </a:r>
          </a:p>
          <a:p>
            <a:r>
              <a:rPr lang="en-US" sz="1800" b="1" dirty="0"/>
              <a:t>Fund Insights</a:t>
            </a:r>
          </a:p>
          <a:p>
            <a:r>
              <a:rPr lang="en-US" sz="1400" dirty="0"/>
              <a:t>Several funds delivered superior Sharpe and Sortino ratios. </a:t>
            </a:r>
          </a:p>
          <a:p>
            <a:r>
              <a:rPr lang="en-US" sz="1400" dirty="0"/>
              <a:t>High Alpha funds consistently outperformed benchmarks. </a:t>
            </a:r>
          </a:p>
          <a:p>
            <a:r>
              <a:rPr lang="en-US" sz="1400" dirty="0"/>
              <a:t>Lower expense ratio funds generally produced better composite scores. </a:t>
            </a:r>
          </a:p>
          <a:p>
            <a:r>
              <a:rPr lang="en-US" sz="1800" b="1" dirty="0"/>
              <a:t>Investor Insights</a:t>
            </a:r>
          </a:p>
          <a:p>
            <a:r>
              <a:rPr lang="en-US" sz="1400" dirty="0"/>
              <a:t>Younger investors were the most active SIP contributors. </a:t>
            </a:r>
          </a:p>
          <a:p>
            <a:r>
              <a:rPr lang="en-US" sz="1400" dirty="0"/>
              <a:t>B30 cities showed significant growth potential. </a:t>
            </a:r>
          </a:p>
          <a:p>
            <a:r>
              <a:rPr lang="en-US" sz="1800" b="1" dirty="0"/>
              <a:t>Recommendations</a:t>
            </a:r>
          </a:p>
          <a:p>
            <a:r>
              <a:rPr lang="en-US" sz="1400" dirty="0"/>
              <a:t>Promote SIP investments in emerging B30 markets. </a:t>
            </a:r>
          </a:p>
          <a:p>
            <a:r>
              <a:rPr lang="en-US" sz="1400" dirty="0"/>
              <a:t>Focus on high Sharpe, high Alpha funds. </a:t>
            </a:r>
          </a:p>
          <a:p>
            <a:r>
              <a:rPr lang="en-US" sz="1400" dirty="0"/>
              <a:t>Use risk-adjusted metrics rather than absolute returns alone.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1172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C395-F0EA-AF9C-1B7D-73AA871A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07" y="584933"/>
            <a:ext cx="8056684" cy="1437298"/>
          </a:xfrm>
        </p:spPr>
        <p:txBody>
          <a:bodyPr>
            <a:normAutofit/>
          </a:bodyPr>
          <a:lstStyle/>
          <a:p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413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770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Mutual Fund Analytics Capstone Project </vt:lpstr>
      <vt:lpstr>Problem Statement &amp; Objectives</vt:lpstr>
      <vt:lpstr>Data Sources</vt:lpstr>
      <vt:lpstr>Project Architecture</vt:lpstr>
      <vt:lpstr>Exploratory Data Analysis (EDA)</vt:lpstr>
      <vt:lpstr>Investor &amp; Portfolio Insights</vt:lpstr>
      <vt:lpstr>Performance Metrics Analysis</vt:lpstr>
      <vt:lpstr>Advanced Risk Analytics</vt:lpstr>
      <vt:lpstr>Dashboard Screenshot</vt:lpstr>
      <vt:lpstr>Dashboard Screenshot</vt:lpstr>
      <vt:lpstr>Key Findings &amp; 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kumari</dc:creator>
  <cp:lastModifiedBy>Sakshi kumari</cp:lastModifiedBy>
  <cp:revision>2</cp:revision>
  <dcterms:created xsi:type="dcterms:W3CDTF">2026-06-11T10:03:30Z</dcterms:created>
  <dcterms:modified xsi:type="dcterms:W3CDTF">2026-06-11T10:05:46Z</dcterms:modified>
</cp:coreProperties>
</file>